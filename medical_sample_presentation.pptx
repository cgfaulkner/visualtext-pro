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anatomical diagram shows the four-chamber structure of the human heart. The diagram illustrates the left and right atria (upper chambers) and left and right ventricles (lower chambers). This is essential for understanding cardiac physiology and pathology.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posterior-anterior (PA) chest X-ray demonstrates bilateral lower lobe infiltrates consistent with community-acquired pneumonia. The infiltrates appear as increased opacity in the lung bases. The cardiac silhouette is normal in size and contour.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Axial T1-weighted MRI image of the brain showing normal anatomical structures. The image demonstrates good gray-white matter differentiation with normal ventricular system. No acute abnormalities are identified.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graph shows heart rate monitoring over a 24-hour period. The data demonstrates gradual stabilization of heart rate following treatment initiation. The trend indicates positive response to therapeutic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Cardiovascular Disease: Diagnosis and Treatment</a:t>
            </a:r>
          </a:p>
        </p:txBody>
      </p:sp>
      <p:sp>
        <p:nvSpPr>
          <p:cNvPr id="3" name="Subtitle 2"/>
          <p:cNvSpPr>
            <a:spLocks noGrp="1"/>
          </p:cNvSpPr>
          <p:nvPr>
            <p:ph type="subTitle" idx="1"/>
          </p:nvPr>
        </p:nvSpPr>
        <p:spPr/>
        <p:txBody>
          <a:bodyPr/>
          <a:lstStyle/>
          <a:p>
            <a:r>
              <a:t>Medical Grand Rounds</a:t>
            </a:r>
          </a:p>
          <a:p>
            <a:r>
              <a:t>Department of Cardiology</a:t>
            </a:r>
          </a:p>
          <a:p>
            <a:r>
              <a:t>Presented by: Dr. Smith</a:t>
            </a:r>
          </a:p>
        </p:txBody>
      </p:sp>
      <p:pic>
        <p:nvPicPr>
          <p:cNvPr id="4" name="Picture 3" descr="image.png"/>
          <p:cNvPicPr>
            <a:picLocks noChangeAspect="1"/>
          </p:cNvPicPr>
          <p:nvPr/>
        </p:nvPicPr>
        <p:blipFill>
          <a:blip r:embed="rId2"/>
          <a:stretch>
            <a:fillRect/>
          </a:stretch>
        </p:blipFill>
        <p:spPr>
          <a:xfrm>
            <a:off x="7315200" y="457200"/>
            <a:ext cx="1097280" cy="731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Cardiac Anatomy and Physiology</a:t>
            </a:r>
          </a:p>
        </p:txBody>
      </p:sp>
      <p:sp>
        <p:nvSpPr>
          <p:cNvPr id="3" name="Content Placeholder 2"/>
          <p:cNvSpPr>
            <a:spLocks noGrp="1"/>
          </p:cNvSpPr>
          <p:nvPr>
            <p:ph idx="1"/>
          </p:nvPr>
        </p:nvSpPr>
        <p:spPr/>
        <p:txBody>
          <a:bodyPr/>
          <a:lstStyle/>
          <a:p>
            <a:r>
              <a:t>Key Anatomical Structures:</a:t>
            </a:r>
          </a:p>
          <a:p>
            <a:r>
              <a:t>• Left Atrium (LA) - Receives oxygenated blood</a:t>
            </a:r>
          </a:p>
          <a:p>
            <a:r>
              <a:t>• Right Atrium (RA) - Receives deoxygenated blood  </a:t>
            </a:r>
          </a:p>
          <a:p>
            <a:r>
              <a:t>• Left Ventricle (LV) - Pumps blood to systemic circulation</a:t>
            </a:r>
          </a:p>
          <a:p>
            <a:r>
              <a:t>• Right Ventricle (RV) - Pumps blood to pulmonary circulation</a:t>
            </a:r>
          </a:p>
          <a:p>
            <a:r>
              <a:t>• Valves regulate unidirectional blood flow</a:t>
            </a:r>
          </a:p>
        </p:txBody>
      </p:sp>
      <p:pic>
        <p:nvPicPr>
          <p:cNvPr id="4" name="Picture 3" descr="image.png"/>
          <p:cNvPicPr>
            <a:picLocks noChangeAspect="1"/>
          </p:cNvPicPr>
          <p:nvPr/>
        </p:nvPicPr>
        <p:blipFill>
          <a:blip r:embed="rId2"/>
          <a:stretch>
            <a:fillRect/>
          </a:stretch>
        </p:blipFill>
        <p:spPr>
          <a:xfrm>
            <a:off x="457200" y="1828800"/>
            <a:ext cx="36576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Chest Radiography: Pneumonia Case Study</a:t>
            </a:r>
          </a:p>
        </p:txBody>
      </p:sp>
      <p:sp>
        <p:nvSpPr>
          <p:cNvPr id="3" name="Content Placeholder 2"/>
          <p:cNvSpPr>
            <a:spLocks noGrp="1"/>
          </p:cNvSpPr>
          <p:nvPr>
            <p:ph idx="1"/>
          </p:nvPr>
        </p:nvSpPr>
        <p:spPr/>
        <p:txBody>
          <a:bodyPr/>
          <a:lstStyle/>
          <a:p>
            <a:r>
              <a:t>Patient Presentation:</a:t>
            </a:r>
          </a:p>
          <a:p>
            <a:r>
              <a:t>• 65-year-old male with fever and cough</a:t>
            </a:r>
          </a:p>
          <a:p>
            <a:r>
              <a:t>• Shortness of breath for 3 days</a:t>
            </a:r>
          </a:p>
          <a:p>
            <a:r>
              <a:t>• Physical exam: Crackles in bilateral lower lobes</a:t>
            </a:r>
          </a:p>
          <a:p/>
          <a:p>
            <a:r>
              <a:t>Radiographic Findings:</a:t>
            </a:r>
          </a:p>
          <a:p>
            <a:r>
              <a:t>• Bilateral lower lobe infiltrates</a:t>
            </a:r>
          </a:p>
          <a:p>
            <a:r>
              <a:t>• No pleural effusion</a:t>
            </a:r>
          </a:p>
          <a:p>
            <a:r>
              <a:t>• Normal cardiac silhouette</a:t>
            </a:r>
          </a:p>
        </p:txBody>
      </p:sp>
      <p:pic>
        <p:nvPicPr>
          <p:cNvPr id="4" name="Picture 3" descr="image.png"/>
          <p:cNvPicPr>
            <a:picLocks noChangeAspect="1"/>
          </p:cNvPicPr>
          <p:nvPr/>
        </p:nvPicPr>
        <p:blipFill>
          <a:blip r:embed="rId2"/>
          <a:stretch>
            <a:fillRect/>
          </a:stretch>
        </p:blipFill>
        <p:spPr>
          <a:xfrm>
            <a:off x="4572000" y="1371600"/>
            <a:ext cx="3200400" cy="3657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Neuroimaging: Brain MRI Interpretation</a:t>
            </a:r>
          </a:p>
        </p:txBody>
      </p:sp>
      <p:sp>
        <p:nvSpPr>
          <p:cNvPr id="3" name="Content Placeholder 2"/>
          <p:cNvSpPr>
            <a:spLocks noGrp="1"/>
          </p:cNvSpPr>
          <p:nvPr>
            <p:ph idx="1"/>
          </p:nvPr>
        </p:nvSpPr>
        <p:spPr/>
        <p:txBody>
          <a:bodyPr/>
          <a:lstStyle/>
          <a:p>
            <a:r>
              <a:t>MRI Technique:</a:t>
            </a:r>
          </a:p>
          <a:p>
            <a:r>
              <a:t>• T1-weighted axial sequences</a:t>
            </a:r>
          </a:p>
          <a:p>
            <a:r>
              <a:t>• 1.5 Tesla field strength</a:t>
            </a:r>
          </a:p>
          <a:p>
            <a:r>
              <a:t>• Contrast: Gadolinium-enhanced</a:t>
            </a:r>
          </a:p>
          <a:p/>
          <a:p>
            <a:r>
              <a:t>Normal Structures Visible:</a:t>
            </a:r>
          </a:p>
          <a:p>
            <a:r>
              <a:t>• Cerebral hemispheres</a:t>
            </a:r>
          </a:p>
          <a:p>
            <a:r>
              <a:t>• Lateral ventricles</a:t>
            </a:r>
          </a:p>
          <a:p>
            <a:r>
              <a:t>• Brainstem and cerebellum</a:t>
            </a:r>
          </a:p>
          <a:p>
            <a:r>
              <a:t>• Gray and white matter differentiation</a:t>
            </a:r>
          </a:p>
        </p:txBody>
      </p:sp>
      <p:pic>
        <p:nvPicPr>
          <p:cNvPr id="4" name="Picture 3" descr="image.png"/>
          <p:cNvPicPr>
            <a:picLocks noChangeAspect="1"/>
          </p:cNvPicPr>
          <p:nvPr/>
        </p:nvPicPr>
        <p:blipFill>
          <a:blip r:embed="rId2"/>
          <a:stretch>
            <a:fillRect/>
          </a:stretch>
        </p:blipFill>
        <p:spPr>
          <a:xfrm>
            <a:off x="5029200" y="1645920"/>
            <a:ext cx="2926080" cy="3200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Patient Monitoring: Vital Signs Trending</a:t>
            </a:r>
          </a:p>
        </p:txBody>
      </p:sp>
      <p:sp>
        <p:nvSpPr>
          <p:cNvPr id="3" name="Content Placeholder 2"/>
          <p:cNvSpPr>
            <a:spLocks noGrp="1"/>
          </p:cNvSpPr>
          <p:nvPr>
            <p:ph idx="1"/>
          </p:nvPr>
        </p:nvSpPr>
        <p:spPr/>
        <p:txBody>
          <a:bodyPr/>
          <a:lstStyle/>
          <a:p>
            <a:r>
              <a:t>24-Hour Monitoring Results:</a:t>
            </a:r>
          </a:p>
          <a:p>
            <a:r>
              <a:t>• Continuous cardiac monitoring</a:t>
            </a:r>
          </a:p>
          <a:p>
            <a:r>
              <a:t>• Hourly vital sign assessment</a:t>
            </a:r>
          </a:p>
          <a:p>
            <a:r>
              <a:t>• Blood pressure: Stable 120/80</a:t>
            </a:r>
          </a:p>
          <a:p>
            <a:r>
              <a:t>• Temperature: Resolved fever</a:t>
            </a:r>
          </a:p>
          <a:p>
            <a:r>
              <a:t>• Oxygen saturation: 98% on room air</a:t>
            </a:r>
          </a:p>
          <a:p/>
          <a:p>
            <a:r>
              <a:t>Clinical Interpretation:</a:t>
            </a:r>
          </a:p>
          <a:p>
            <a:r>
              <a:t>• Improving hemodynamic status</a:t>
            </a:r>
          </a:p>
          <a:p>
            <a:r>
              <a:t>• Response to treatment evident</a:t>
            </a:r>
          </a:p>
        </p:txBody>
      </p:sp>
      <p:pic>
        <p:nvPicPr>
          <p:cNvPr id="4" name="Picture 3" descr="image.png"/>
          <p:cNvPicPr>
            <a:picLocks noChangeAspect="1"/>
          </p:cNvPicPr>
          <p:nvPr/>
        </p:nvPicPr>
        <p:blipFill>
          <a:blip r:embed="rId2"/>
          <a:stretch>
            <a:fillRect/>
          </a:stretch>
        </p:blipFill>
        <p:spPr>
          <a:xfrm>
            <a:off x="731520" y="2103120"/>
            <a:ext cx="3657600" cy="25603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Treatment Protocol and Outcomes</a:t>
            </a:r>
          </a:p>
        </p:txBody>
      </p:sp>
      <p:sp>
        <p:nvSpPr>
          <p:cNvPr id="3" name="Content Placeholder 2"/>
          <p:cNvSpPr>
            <a:spLocks noGrp="1"/>
          </p:cNvSpPr>
          <p:nvPr>
            <p:ph idx="1"/>
          </p:nvPr>
        </p:nvSpPr>
        <p:spPr/>
        <p:txBody>
          <a:bodyPr/>
          <a:lstStyle/>
          <a:p>
            <a:r>
              <a:t>Evidence-Based Treatment:</a:t>
            </a:r>
          </a:p>
          <a:p>
            <a:r>
              <a:t>• Antibiotic therapy: Azithromycin 500mg daily</a:t>
            </a:r>
          </a:p>
          <a:p>
            <a:r>
              <a:t>• Supportive care: Oxygen therapy PRN</a:t>
            </a:r>
          </a:p>
          <a:p>
            <a:r>
              <a:t>• Monitoring: Serial chest X-rays</a:t>
            </a:r>
          </a:p>
          <a:p>
            <a:r>
              <a:t>• Duration: 7-day course</a:t>
            </a:r>
          </a:p>
          <a:p/>
          <a:p>
            <a:r>
              <a:t>Clinical Outcomes:</a:t>
            </a:r>
          </a:p>
          <a:p>
            <a:r>
              <a:t>• Fever resolution within 48 hours</a:t>
            </a:r>
          </a:p>
          <a:p>
            <a:r>
              <a:t>• Improved respiratory symptoms</a:t>
            </a:r>
          </a:p>
          <a:p>
            <a:r>
              <a:t>• Radiographic improvement on day 5</a:t>
            </a:r>
          </a:p>
          <a:p>
            <a:r>
              <a:t>• Successful outpatient management</a:t>
            </a:r>
          </a:p>
        </p:txBody>
      </p:sp>
      <p:pic>
        <p:nvPicPr>
          <p:cNvPr id="4" name="Picture 3" descr="image.png"/>
          <p:cNvPicPr>
            <a:picLocks noChangeAspect="1"/>
          </p:cNvPicPr>
          <p:nvPr/>
        </p:nvPicPr>
        <p:blipFill>
          <a:blip r:embed="rId2"/>
          <a:stretch>
            <a:fillRect/>
          </a:stretch>
        </p:blipFill>
        <p:spPr>
          <a:xfrm>
            <a:off x="7772400" y="6217920"/>
            <a:ext cx="731520" cy="365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